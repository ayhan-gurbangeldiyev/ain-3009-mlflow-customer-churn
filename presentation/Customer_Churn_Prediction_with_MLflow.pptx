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c3b006e91b48c2" /><Relationship Type="http://schemas.openxmlformats.org/officeDocument/2006/relationships/extended-properties" Target="/docProps/app.xml" Id="R35dc2b3b7ae448f2" /><Relationship Type="http://schemas.openxmlformats.org/officeDocument/2006/relationships/officeDocument" Target="/ppt/presentation.xml" Id="R9f47e8d3aaa94d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5a4c6fae894058"/>
  </p:sldMasterIdLst>
  <p:notesMasterIdLst>
    <p:notesMasterId xmlns:r="http://schemas.openxmlformats.org/officeDocument/2006/relationships" r:id="Ree0305a4b090480b"/>
  </p:notesMasterIdLst>
  <p:sldIdLst>
    <p:sldId xmlns:r="http://schemas.openxmlformats.org/officeDocument/2006/relationships" id="256" r:id="R7feec520e58f4721"/>
    <p:sldId xmlns:r="http://schemas.openxmlformats.org/officeDocument/2006/relationships" id="257" r:id="R2daa9d2c887e493d"/>
    <p:sldId xmlns:r="http://schemas.openxmlformats.org/officeDocument/2006/relationships" id="258" r:id="R668d76fc056449b5"/>
    <p:sldId xmlns:r="http://schemas.openxmlformats.org/officeDocument/2006/relationships" id="259" r:id="Rf468918bb6cc4950"/>
    <p:sldId xmlns:r="http://schemas.openxmlformats.org/officeDocument/2006/relationships" id="260" r:id="R90291197373c41b9"/>
    <p:sldId xmlns:r="http://schemas.openxmlformats.org/officeDocument/2006/relationships" id="261" r:id="R2011ff9ff11f462d"/>
    <p:sldId xmlns:r="http://schemas.openxmlformats.org/officeDocument/2006/relationships" id="262" r:id="R22f5ba0c6b81420b"/>
    <p:sldId xmlns:r="http://schemas.openxmlformats.org/officeDocument/2006/relationships" id="263" r:id="R4d99f3915df549f5"/>
    <p:sldId xmlns:r="http://schemas.openxmlformats.org/officeDocument/2006/relationships" id="264" r:id="R0b655195e7f34b9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5a4c6fae894058" /><Relationship Type="http://schemas.openxmlformats.org/officeDocument/2006/relationships/theme" Target="/ppt/theme/theme1.xml" Id="R584ff7a3b1f44738" /><Relationship Type="http://schemas.openxmlformats.org/officeDocument/2006/relationships/notesMaster" Target="/ppt/notesMasters/notesMaster1.xml" Id="Ree0305a4b090480b" /><Relationship Type="http://schemas.openxmlformats.org/officeDocument/2006/relationships/presProps" Target="/ppt/presProps.xml" Id="R52505f8c20414773" /><Relationship Type="http://schemas.openxmlformats.org/officeDocument/2006/relationships/viewProps" Target="/ppt/viewProps.xml" Id="R44024f9926c844c4" /><Relationship Type="http://schemas.openxmlformats.org/officeDocument/2006/relationships/tableStyles" Target="/ppt/tableStyles.xml" Id="R32b6b78921074418" /><Relationship Type="http://schemas.openxmlformats.org/officeDocument/2006/relationships/slide" Target="/ppt/slides/slide1.xml" Id="R7feec520e58f4721" /><Relationship Type="http://schemas.openxmlformats.org/officeDocument/2006/relationships/slide" Target="/ppt/slides/slide2.xml" Id="R2daa9d2c887e493d" /><Relationship Type="http://schemas.openxmlformats.org/officeDocument/2006/relationships/slide" Target="/ppt/slides/slide3.xml" Id="R668d76fc056449b5" /><Relationship Type="http://schemas.openxmlformats.org/officeDocument/2006/relationships/slide" Target="/ppt/slides/slide4.xml" Id="Rf468918bb6cc4950" /><Relationship Type="http://schemas.openxmlformats.org/officeDocument/2006/relationships/slide" Target="/ppt/slides/slide5.xml" Id="R90291197373c41b9" /><Relationship Type="http://schemas.openxmlformats.org/officeDocument/2006/relationships/slide" Target="/ppt/slides/slide6.xml" Id="R2011ff9ff11f462d" /><Relationship Type="http://schemas.openxmlformats.org/officeDocument/2006/relationships/slide" Target="/ppt/slides/slide7.xml" Id="R22f5ba0c6b81420b" /><Relationship Type="http://schemas.openxmlformats.org/officeDocument/2006/relationships/slide" Target="/ppt/slides/slide8.xml" Id="R4d99f3915df549f5" /><Relationship Type="http://schemas.openxmlformats.org/officeDocument/2006/relationships/slide" Target="/ppt/slides/slide9.xml" Id="R0b655195e7f34b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3813df3618546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0a32cd6a6549b9" /><Relationship Type="http://schemas.openxmlformats.org/officeDocument/2006/relationships/notesMaster" Target="/ppt/notesMasters/notesMaster1.xml" Id="R992cd1ecabf348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c6a936814344f9" /><Relationship Type="http://schemas.openxmlformats.org/officeDocument/2006/relationships/notesMaster" Target="/ppt/notesMasters/notesMaster1.xml" Id="R137fad61a2ce44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cb9582aa3645d9" /><Relationship Type="http://schemas.openxmlformats.org/officeDocument/2006/relationships/notesMaster" Target="/ppt/notesMasters/notesMaster1.xml" Id="R04e673db6e4445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90e77d771f4101" /><Relationship Type="http://schemas.openxmlformats.org/officeDocument/2006/relationships/notesMaster" Target="/ppt/notesMasters/notesMaster1.xml" Id="R631474c6e03141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89e99c83964ad6" /><Relationship Type="http://schemas.openxmlformats.org/officeDocument/2006/relationships/notesMaster" Target="/ppt/notesMasters/notesMaster1.xml" Id="R4e9913e6675f4c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3ccaa69912456f" /><Relationship Type="http://schemas.openxmlformats.org/officeDocument/2006/relationships/notesMaster" Target="/ppt/notesMasters/notesMaster1.xml" Id="Re7f3e162a19146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2066e8dea547f9" /><Relationship Type="http://schemas.openxmlformats.org/officeDocument/2006/relationships/notesMaster" Target="/ppt/notesMasters/notesMaster1.xml" Id="R64020ffcdd3145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427e7fe98c4afe" /><Relationship Type="http://schemas.openxmlformats.org/officeDocument/2006/relationships/notesMaster" Target="/ppt/notesMasters/notesMaster1.xml" Id="Ra4683282e10b46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31372fac6a4437" /><Relationship Type="http://schemas.openxmlformats.org/officeDocument/2006/relationships/notesMaster" Target="/ppt/notesMasters/notesMaster1.xml" Id="R49aea80b847f45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Hello, today I will present my MLOps term project: Customer Churn Prediction with MLflow. The goal is not only to train a model, but to manage the full machine learning lifecycle from experiments to deployment and monitoring.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selected problem is customer churn prediction in telecommunications. The model predicts whether a customer will leave. This is useful because companies can use churn risk to prioritize retention campaigns.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full lifecycle workflow. The project starts with preprocessing, then baseline training, hyperparameter tuning, model registry, serving, and finally simulated monitoring.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Preprocessing is implemented as a Scikit-learn pipeline. This is important because the same transformations are used during training and serving. I compared three baseline models before tuning.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screenshot shows the MLflow experiment. Each run logs parameters, metrics, artifacts, and model outputs, making the comparison auditable and reproducible.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tuning, I used RandomizedSearchCV instead of a manual grid. It samples a broader parameter space while keeping runtime manageable. The best cross-validation ROC-AUC was about 0.8476.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best model is registered as ChurnPredictionModel. The registry demonstrates model versioning and lifecycle management, including staging and production aliases.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production model is served locally with MLflow Models. The serve_test script sends a sample customer and receives a prediction. Monitoring then evaluates four simulated batches and logs metrics like F1-score and ROC-AUC.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 conclude, the project satisfies the main lifecycle requirements: tracking, training, tuning, registry, deployment, and monitoring. In the demo, I would show the MLflow experiment, best run, registry model, prediction response, and monitoring metrics.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d722b158bf40a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653ea33015c4b33" /><Relationship Type="http://schemas.openxmlformats.org/officeDocument/2006/relationships/slideLayout" Target="/ppt/slideLayouts/slideLayout2.xml" Id="R9af532f11e504f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f532f11e504f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f8a678965446d2" /><Relationship Type="http://schemas.openxmlformats.org/officeDocument/2006/relationships/notesSlide" Target="/ppt/notesSlides/notesSlide1.xml" Id="Rf6f5cda8726243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d0228a6d2c422f" /><Relationship Type="http://schemas.openxmlformats.org/officeDocument/2006/relationships/notesSlide" Target="/ppt/notesSlides/notesSlide2.xml" Id="R7cb0379ecd9c43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34aadc2f7d4e07" /><Relationship Type="http://schemas.openxmlformats.org/officeDocument/2006/relationships/notesSlide" Target="/ppt/notesSlides/notesSlide3.xml" Id="R62b65886797b45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0fcfb090bc440d" /><Relationship Type="http://schemas.openxmlformats.org/officeDocument/2006/relationships/notesSlide" Target="/ppt/notesSlides/notesSlide4.xml" Id="R04bece2a2a9b47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b7089d9b2444f8" /><Relationship Type="http://schemas.openxmlformats.org/officeDocument/2006/relationships/image" Target="/ppt/media/image.png" Id="R22aaaec4769345bc" /><Relationship Type="http://schemas.openxmlformats.org/officeDocument/2006/relationships/notesSlide" Target="/ppt/notesSlides/notesSlide5.xml" Id="R6138cb23671942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4381af42cc4160" /><Relationship Type="http://schemas.openxmlformats.org/officeDocument/2006/relationships/image" Target="/ppt/media/image2.png" Id="Rb02a89be541642b0" /><Relationship Type="http://schemas.openxmlformats.org/officeDocument/2006/relationships/notesSlide" Target="/ppt/notesSlides/notesSlide6.xml" Id="Rf798712516e840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dac9db21444e54" /><Relationship Type="http://schemas.openxmlformats.org/officeDocument/2006/relationships/image" Target="/ppt/media/image3.png" Id="Rde31575638a74e70" /><Relationship Type="http://schemas.openxmlformats.org/officeDocument/2006/relationships/notesSlide" Target="/ppt/notesSlides/notesSlide7.xml" Id="R83664e9235da4a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637daf4c634562" /><Relationship Type="http://schemas.openxmlformats.org/officeDocument/2006/relationships/image" Target="/ppt/media/image4.png" Id="R9fd59eebdb3e413c" /><Relationship Type="http://schemas.openxmlformats.org/officeDocument/2006/relationships/notesSlide" Target="/ppt/notesSlides/notesSlide8.xml" Id="Racda46ae0b304f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11839228fc4ecf" /><Relationship Type="http://schemas.openxmlformats.org/officeDocument/2006/relationships/notesSlide" Target="/ppt/notesSlides/notesSlide9.xml" Id="R61c2b50ebec64a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5274E4-E957-41F5-AFC8-4B527387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6446B-B037-49A3-92C5-AF7FCCC4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0"/>
            <a:ext cx="2876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C"/>
          </a:solidFill>
          <a:ln xmlns:a="http://schemas.openxmlformats.org/drawingml/2006/main" w="0">
            <a:solidFill>
              <a:srgbClr val="0D1B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2EB798-A3A8-4046-9812-DB97A98B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57"/>
          </a:solidFill>
          <a:ln xmlns:a="http://schemas.openxmlformats.org/drawingml/2006/main" w="0">
            <a:solidFill>
              <a:srgbClr val="28405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5195E-57CC-4B7D-81A6-8908121A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AIN-3009 MLOps Term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4F510-6424-4BEE-9F56-96D39A8B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D3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D3A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45CC51-2F19-40EB-86F1-926E2FAE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04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3D3A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3D3A6"/>
                </a:solidFill>
                <a:latin typeface="Aptos"/>
                <a:ea typeface="Aptos"/>
                <a:cs typeface="Aptos"/>
              </a:rPr>
              <a:t>AIN-3009 Delivering AI Applications with MLOps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AB089-B3B0-496F-A96E-961037E9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75247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Customer Churn Prediction with MLflow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ADABEE-830A-4EFB-A877-F3EC818E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End-to-end machine learning lifecycle management for telecom churn: tracking, tuning, registry, serving, and monitoring.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379C2-799B-48BA-9AEC-F0EDD154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095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D"/>
          </a:solidFill>
          <a:ln xmlns:a="http://schemas.openxmlformats.org/drawingml/2006/main" w="9525">
            <a:solidFill>
              <a:srgbClr val="2840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B510F-9C92-4B8F-ACE4-F6A9049E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7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3A6"/>
          </a:solidFill>
          <a:ln xmlns:a="http://schemas.openxmlformats.org/drawingml/2006/main" w="0">
            <a:solidFill>
              <a:srgbClr val="43D3A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32C80-B07E-4408-8FA0-5A2E8C52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7,043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F8397-36DB-4C79-BFD7-52ADC9FE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4345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customer records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5DEAE0-7F89-43D5-B3AE-C5C21F7B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095750"/>
            <a:ext cx="2095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D"/>
          </a:solidFill>
          <a:ln xmlns:a="http://schemas.openxmlformats.org/drawingml/2006/main" w="9525">
            <a:solidFill>
              <a:srgbClr val="2840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23A63B-0D8B-46A4-9856-8767F8EB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095750"/>
            <a:ext cx="47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A7FF"/>
          </a:solidFill>
          <a:ln xmlns:a="http://schemas.openxmlformats.org/drawingml/2006/main" w="0">
            <a:solidFill>
              <a:srgbClr val="72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CD952D-DC2F-4D07-97A6-438CFE2D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8625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63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438DAD-FC9E-42FA-A609-69DCFB7F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74345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MLflow runs logged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904D64-29B9-45C1-958F-2C2531F5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95750"/>
            <a:ext cx="2095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D"/>
          </a:solidFill>
          <a:ln xmlns:a="http://schemas.openxmlformats.org/drawingml/2006/main" w="9525">
            <a:solidFill>
              <a:srgbClr val="28405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C2B8BB-7C83-48C4-AEB8-D0EB0250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95750"/>
            <a:ext cx="47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solidFill>
              <a:srgbClr val="F4C95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E3212A-4665-46BA-A0C0-14B5E847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8625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v1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D15391-FDE5-4EAF-A7F7-04447206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4345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production model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E248BE-A460-4564-9ABA-81220CF3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95300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Ayhan Gurbangeldiyev</a:t>
            </a:r>
          </a:p>
          <a:p xmlns:a="http://schemas.openxmlformats.org/drawingml/2006/main">
            <a:pPr algn="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Term Project</a:t>
            </a:r>
          </a:p>
        </p:txBody>
      </p:sp>
    </p:spTree>
    <p:extLst>
      <p:ext uri="{BB962C8B-B14F-4D97-AF65-F5344CB8AC3E}">
        <p14:creationId xmlns:p14="http://schemas.microsoft.com/office/powerpoint/2010/main" val="18161576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3068A6-BACF-44B5-BCB5-D5CA39EB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91C251-EB83-407D-8D48-2B592096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0"/>
            <a:ext cx="2876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C"/>
          </a:solidFill>
          <a:ln xmlns:a="http://schemas.openxmlformats.org/drawingml/2006/main" w="0">
            <a:solidFill>
              <a:srgbClr val="0D1B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83491-D966-4BC8-96F3-E0FB9305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57"/>
          </a:solidFill>
          <a:ln xmlns:a="http://schemas.openxmlformats.org/drawingml/2006/main" w="0">
            <a:solidFill>
              <a:srgbClr val="28405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64AAE-5444-4B1E-895D-0B70518A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AIN-3009 MLOps Term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9A2A9-253A-4DA1-BFE0-C1B06282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D3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D3A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8AFA22-B4BF-4D97-ACD4-B7B3C2B7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D3A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D3A6"/>
                </a:solidFill>
                <a:latin typeface="Aptos"/>
                <a:ea typeface="Aptos"/>
                <a:cs typeface="Aptos"/>
              </a:rPr>
              <a:t>PROBLEM AND DATASET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9C3DB-148E-4AA5-8E78-8136E54D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66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Predict customers likely to leave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86171-8408-4C4C-9F39-76C38902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6191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- Domain: telecommunications customer retention.</a:t>
            </a:r>
          </a:p>
          <a:p xmlns:a="http://schemas.openxmlformats.org/drawingml/2006/main">
            <a:pPr algn="l">
              <a:defRPr sz="18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- Dataset: Telco Customer Churn with 7,043 rows and 21 columns.</a:t>
            </a:r>
          </a:p>
          <a:p xmlns:a="http://schemas.openxmlformats.org/drawingml/2006/main">
            <a:pPr algn="l">
              <a:defRPr sz="18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- Target: Churn, encoded as a binary Yes or No outcome.</a:t>
            </a:r>
          </a:p>
          <a:p xmlns:a="http://schemas.openxmlformats.org/drawingml/2006/main">
            <a:pPr algn="l">
              <a:defRPr sz="18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- Business value: identify high-risk customers before cancellation.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EFEB2-97EB-4413-97D1-0AAB471B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43000"/>
            <a:ext cx="2476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D"/>
          </a:solidFill>
          <a:ln xmlns:a="http://schemas.openxmlformats.org/drawingml/2006/main" w="9525">
            <a:solidFill>
              <a:srgbClr val="2840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1A44B0-1638-42B4-9ABC-C77EC823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43000"/>
            <a:ext cx="47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A7FF"/>
          </a:solidFill>
          <a:ln xmlns:a="http://schemas.openxmlformats.org/drawingml/2006/main" w="0">
            <a:solidFill>
              <a:srgbClr val="72A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E5B8BF-22A8-4AAC-BF99-066BA915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33350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5,174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57097A-7B55-4770-946F-8F9176D3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9070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non-churn customers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2996BC-5747-4C5B-8EC8-615FD228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2476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D"/>
          </a:solidFill>
          <a:ln xmlns:a="http://schemas.openxmlformats.org/drawingml/2006/main" w="9525">
            <a:solidFill>
              <a:srgbClr val="2840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D5C100-BC10-4CEA-97DE-17C9213A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47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73"/>
          </a:solidFill>
          <a:ln xmlns:a="http://schemas.openxmlformats.org/drawingml/2006/main" w="0">
            <a:solidFill>
              <a:srgbClr val="F9737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E671B2-80F2-41C9-B6AE-04085C75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6225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1,869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54F7FF-1BD9-4636-A403-D82199C8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1945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churn customers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2CCC10-4C99-4EA9-87BF-65CE7A83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0"/>
            <a:ext cx="2476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D"/>
          </a:solidFill>
          <a:ln xmlns:a="http://schemas.openxmlformats.org/drawingml/2006/main" w="9525">
            <a:solidFill>
              <a:srgbClr val="28405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C16381-0370-4D07-AE2F-8314445D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0"/>
            <a:ext cx="47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3A6"/>
          </a:solidFill>
          <a:ln xmlns:a="http://schemas.openxmlformats.org/drawingml/2006/main" w="0">
            <a:solidFill>
              <a:srgbClr val="43D3A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B6DBEF-E769-4005-8FCF-28AF8B2A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9100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26.5%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070616-55E0-466A-8084-5EFDBC06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4820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positive class share</a:t>
            </a:r>
          </a:p>
        </p:txBody>
      </p:sp>
    </p:spTree>
    <p:extLst>
      <p:ext uri="{BB962C8B-B14F-4D97-AF65-F5344CB8AC3E}">
        <p14:creationId xmlns:p14="http://schemas.microsoft.com/office/powerpoint/2010/main" val="14083551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63E892-FB3E-4FAE-A1E1-C0051E9C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CA559-5657-42E1-AD80-C8DBA2D4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0"/>
            <a:ext cx="2876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C"/>
          </a:solidFill>
          <a:ln xmlns:a="http://schemas.openxmlformats.org/drawingml/2006/main" w="0">
            <a:solidFill>
              <a:srgbClr val="0D1B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44550B-073B-44DB-BE16-CB5FF4C2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57"/>
          </a:solidFill>
          <a:ln xmlns:a="http://schemas.openxmlformats.org/drawingml/2006/main" w="0">
            <a:solidFill>
              <a:srgbClr val="28405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64BB15-D903-4DD7-B3C2-054095CF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AIN-3009 MLOps Term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0C8A4-E5F0-4D87-8CB5-63F1DB56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D3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D3A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4FEA1-4E00-47D3-A006-7D326622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D3A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D3A6"/>
                </a:solidFill>
                <a:latin typeface="Aptos"/>
                <a:ea typeface="Aptos"/>
                <a:cs typeface="Aptos"/>
              </a:rPr>
              <a:t>END-TO-END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B2E6AC-C131-4F94-931E-8E7D6909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66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One repeatable MLflow pipeline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72A5E-73F6-4ACC-8D27-1087C15C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D"/>
          </a:solidFill>
          <a:ln xmlns:a="http://schemas.openxmlformats.org/drawingml/2006/main" w="9525">
            <a:solidFill>
              <a:srgbClr val="28405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5F894-6044-4B49-974C-528FF80A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3D3A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3D3A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6E60B8-1404-40DE-AB00-D3E5374E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384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Preprocess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8AD53-4B2A-46A4-A48C-684AE3E1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718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Clean TotalCharges, drop customerID, encode Churn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23BFB6-35F1-42DE-B66D-CE3090B4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4765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D"/>
          </a:solidFill>
          <a:ln xmlns:a="http://schemas.openxmlformats.org/drawingml/2006/main" w="9525">
            <a:solidFill>
              <a:srgbClr val="2840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6E8CCE-3EFE-4EA3-8B44-D11E122D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47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3D3A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3D3A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3E4661-0293-4904-9E24-8C5F2DE8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384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DEF998-CC52-4229-B0B4-59DAF40F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718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Compare Logistic Regression, Random Forest, Gradient Boosting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3BFC36-A600-4633-AADF-5FC7450B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765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D"/>
          </a:solidFill>
          <a:ln xmlns:a="http://schemas.openxmlformats.org/drawingml/2006/main" w="9525">
            <a:solidFill>
              <a:srgbClr val="2840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21F51D-A8B8-442C-81B7-F0B5E669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47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3D3A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3D3A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DF3E48-9561-4009-A90E-C3660BEB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384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Tune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9392DA-7EC7-4961-83AD-E933C7DB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718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RandomizedSearchCV with 20 candidates and 3-fold CV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090F7A-87A5-4DF4-B46F-573ED7E3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D"/>
          </a:solidFill>
          <a:ln xmlns:a="http://schemas.openxmlformats.org/drawingml/2006/main" w="9525">
            <a:solidFill>
              <a:srgbClr val="28405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EB4B8A-169F-4E81-A356-D4E78226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3D3A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3D3A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030410-A44C-4128-AE61-0E4276CC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481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Register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B39ACD-C95C-4FDC-879B-C9C1561C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815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Promote ChurnPredictionModel to staging and production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C2D28F-7AE6-4DAF-B3EE-81A28CE6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8862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D"/>
          </a:solidFill>
          <a:ln xmlns:a="http://schemas.openxmlformats.org/drawingml/2006/main" w="9525">
            <a:solidFill>
              <a:srgbClr val="28405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AAA22C-7F83-43A1-A2C8-6C26A9BD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576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3D3A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3D3A6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D31DFE-1CEC-4B72-8E59-D58B80AA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481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Serve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14F401-F3BD-4BCB-AF5B-EFD73BE6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815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Expose production model through MLflow Models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603B4C-2E18-43B9-BBD3-C78C2BF4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862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D"/>
          </a:solidFill>
          <a:ln xmlns:a="http://schemas.openxmlformats.org/drawingml/2006/main" w="9525">
            <a:solidFill>
              <a:srgbClr val="28405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08CCB5-7305-4206-85CB-B51EE3E7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576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3D3A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3D3A6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30944C-B50B-4CC0-95A5-F7231C68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481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Monitor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EE213B-3387-49C8-AA70-049FC60C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815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Log batch-level drift and performance metrics</a:t>
            </a:r>
          </a:p>
        </p:txBody>
      </p:sp>
    </p:spTree>
    <p:extLst>
      <p:ext uri="{BB962C8B-B14F-4D97-AF65-F5344CB8AC3E}">
        <p14:creationId xmlns:p14="http://schemas.microsoft.com/office/powerpoint/2010/main" val="8667791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5887E2-844F-489A-8CE2-7027F11D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2C23C-F0CF-4C5E-A7D9-10F17EEB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0"/>
            <a:ext cx="2876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C"/>
          </a:solidFill>
          <a:ln xmlns:a="http://schemas.openxmlformats.org/drawingml/2006/main" w="0">
            <a:solidFill>
              <a:srgbClr val="0D1B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D1FE2-A4EF-443E-B0C7-A82F9309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57"/>
          </a:solidFill>
          <a:ln xmlns:a="http://schemas.openxmlformats.org/drawingml/2006/main" w="0">
            <a:solidFill>
              <a:srgbClr val="28405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4C396-BBB9-4F25-8949-CF59F1B2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AIN-3009 MLOps Term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475FCD-66D3-4F57-9419-EE0B6C66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D3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D3A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23245-093D-4F33-90C5-8983E6A9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D3A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D3A6"/>
                </a:solidFill>
                <a:latin typeface="Aptos"/>
                <a:ea typeface="Aptos"/>
                <a:cs typeface="Aptos"/>
              </a:rPr>
              <a:t>DATA PREPARATION AND MODELS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14097-6C24-4372-B758-9EECD109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66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Preprocessing keeps training and inference consistent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4A1D72-67E5-447E-A0DF-B38EA316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053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D"/>
          </a:solidFill>
          <a:ln xmlns:a="http://schemas.openxmlformats.org/drawingml/2006/main" w="9525">
            <a:solidFill>
              <a:srgbClr val="28405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84808-3F3B-4456-9F58-75ADAD84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Preprocessing pipeline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A31D2E-542F-4DBF-ABBA-3596BF6F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37528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- Drop customerID identifier</a:t>
            </a:r>
          </a:p>
          <a:p xmlns:a="http://schemas.openxmlformats.org/drawingml/2006/main"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- Convert TotalCharges to numeric</a:t>
            </a:r>
          </a:p>
          <a:p xmlns:a="http://schemas.openxmlformats.org/drawingml/2006/main"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- Encode Churn as 1/0</a:t>
            </a:r>
          </a:p>
          <a:p xmlns:a="http://schemas.openxmlformats.org/drawingml/2006/main"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- Impute missing values</a:t>
            </a:r>
          </a:p>
          <a:p xmlns:a="http://schemas.openxmlformats.org/drawingml/2006/main"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- Scale numeric features</a:t>
            </a:r>
          </a:p>
          <a:p xmlns:a="http://schemas.openxmlformats.org/drawingml/2006/main"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- One-hot encode categoricals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D3B06E-CD15-4914-94BF-1C5BAFEA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47053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D"/>
          </a:solidFill>
          <a:ln xmlns:a="http://schemas.openxmlformats.org/drawingml/2006/main" w="9525">
            <a:solidFill>
              <a:srgbClr val="2840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7B4D17-9FEB-4A3C-8781-643900F0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241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Models compared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948DAB-D8A2-40FF-AD54-DCE4F97E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1238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D"/>
          </a:solidFill>
          <a:ln xmlns:a="http://schemas.openxmlformats.org/drawingml/2006/main" w="9525">
            <a:solidFill>
              <a:srgbClr val="2840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3C051-8E52-4D10-BAD9-C761D1A0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A7FF"/>
          </a:solidFill>
          <a:ln xmlns:a="http://schemas.openxmlformats.org/drawingml/2006/main" w="0">
            <a:solidFill>
              <a:srgbClr val="72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84E31B-518A-413D-BCFF-12717957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2425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LR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92010-592C-4F52-93B8-0721EF60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8145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Logistic Regression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C96EEE-A9D4-4D2C-A189-957DE812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33750"/>
            <a:ext cx="1238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D"/>
          </a:solidFill>
          <a:ln xmlns:a="http://schemas.openxmlformats.org/drawingml/2006/main" w="9525">
            <a:solidFill>
              <a:srgbClr val="28405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23255E-ED89-4247-9BA4-0ABFBC45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337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3A6"/>
          </a:solidFill>
          <a:ln xmlns:a="http://schemas.openxmlformats.org/drawingml/2006/main" w="0">
            <a:solidFill>
              <a:srgbClr val="43D3A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1B5782-E4E4-4810-BB2C-8216C425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2425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RF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689670-CB1E-4EC1-B4FB-CE4E86DE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8145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686C42-AD97-40F3-846A-AA7F819D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33750"/>
            <a:ext cx="1238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D"/>
          </a:solidFill>
          <a:ln xmlns:a="http://schemas.openxmlformats.org/drawingml/2006/main" w="9525">
            <a:solidFill>
              <a:srgbClr val="28405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3B7472-CEEF-4C72-868C-2C9DDB08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337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solidFill>
              <a:srgbClr val="F4C95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4D792D-B234-48EC-80F9-6AA1116F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52425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GB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8A6D9B-3874-43E9-9EB4-6046F79B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98145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Gradient Boosting</a:t>
            </a:r>
          </a:p>
        </p:txBody>
      </p:sp>
    </p:spTree>
    <p:extLst>
      <p:ext uri="{BB962C8B-B14F-4D97-AF65-F5344CB8AC3E}">
        <p14:creationId xmlns:p14="http://schemas.microsoft.com/office/powerpoint/2010/main" val="1829457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ACF281-D6E5-4A9E-A719-AEB5A45A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645E5-F594-4DCF-8EA0-05769092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0"/>
            <a:ext cx="2876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C"/>
          </a:solidFill>
          <a:ln xmlns:a="http://schemas.openxmlformats.org/drawingml/2006/main" w="0">
            <a:solidFill>
              <a:srgbClr val="0D1B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E14D5-72E1-46CA-9D37-D03245F8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57"/>
          </a:solidFill>
          <a:ln xmlns:a="http://schemas.openxmlformats.org/drawingml/2006/main" w="0">
            <a:solidFill>
              <a:srgbClr val="28405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5FF2E-3095-47B3-9234-F846AE4D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AIN-3009 MLOps Term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CE225-2876-4170-883F-3EE4AC2D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D3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D3A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9AD0F-542F-42F5-965B-DA1FB627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D3A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D3A6"/>
                </a:solidFill>
                <a:latin typeface="Aptos"/>
                <a:ea typeface="Aptos"/>
                <a:cs typeface="Aptos"/>
              </a:rPr>
              <a:t>EXPERIMENT TRACKING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7F179-E1AD-4AE1-B9A9-14CC21F0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66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MLflow records every experiment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29450C-5C56-4152-8F99-3FA5164F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Baseline, tuning, randomized search, and monitoring runs are visible in one experiment.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DA60E2-064C-42A2-94BD-8D0E7508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98869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C"/>
          </a:solidFill>
          <a:ln xmlns:a="http://schemas.openxmlformats.org/drawingml/2006/main" w="9525">
            <a:solidFill>
              <a:srgbClr val="2840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9E2169-F3B4-4082-B449-88D07896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81650"/>
            <a:ext cx="9582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MLflow experiment run list: parameters, metrics, artifacts, and run types.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aaec4769345bc"/>
          <a:stretch xmlns:a="http://schemas.openxmlformats.org/drawingml/2006/main"/>
        </p:blipFill>
        <p:spPr>
          <a:xfrm xmlns:a="http://schemas.openxmlformats.org/drawingml/2006/main">
            <a:off x="3736467" y="2876550"/>
            <a:ext cx="3785616" cy="2628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8490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58BC42-7AC6-440A-9C88-0215FB53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35027-2211-459A-B6A2-9120BAE4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0"/>
            <a:ext cx="2876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C"/>
          </a:solidFill>
          <a:ln xmlns:a="http://schemas.openxmlformats.org/drawingml/2006/main" w="0">
            <a:solidFill>
              <a:srgbClr val="0D1B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5EC2A-D6B6-42BE-A743-B71D4171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57"/>
          </a:solidFill>
          <a:ln xmlns:a="http://schemas.openxmlformats.org/drawingml/2006/main" w="0">
            <a:solidFill>
              <a:srgbClr val="28405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6F6DE8-BF55-40C5-AC0A-609DE872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AIN-3009 MLOps Term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6E5388-963E-4ABB-8D93-38AB0881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D3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D3A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5FB2A-9E5D-4735-AF4E-618D73EF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D3A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D3A6"/>
                </a:solidFill>
                <a:latin typeface="Aptos"/>
                <a:ea typeface="Aptos"/>
                <a:cs typeface="Aptos"/>
              </a:rPr>
              <a:t>HYPERPARAMETER TUNING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D6ED1-60EA-47F3-95EF-60390B82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66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RandomizedSearchCV strengthens tuning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DA8849-F651-411E-9370-A5BF7310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000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D"/>
          </a:solidFill>
          <a:ln xmlns:a="http://schemas.openxmlformats.org/drawingml/2006/main" w="9525">
            <a:solidFill>
              <a:srgbClr val="28405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9F1825-124E-4E25-A820-8D6D5E0D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47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3A6"/>
          </a:solidFill>
          <a:ln xmlns:a="http://schemas.openxmlformats.org/drawingml/2006/main" w="0">
            <a:solidFill>
              <a:srgbClr val="43D3A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E6AC0B-0FF3-4A48-AC0E-E90D44E4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6B2E29-F568-4487-972B-73FB018B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sampled candidates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7E522F-2074-46CB-9C2F-BE9CCCB7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19350"/>
            <a:ext cx="2000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D"/>
          </a:solidFill>
          <a:ln xmlns:a="http://schemas.openxmlformats.org/drawingml/2006/main" w="9525">
            <a:solidFill>
              <a:srgbClr val="2840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2E82E6-5AF0-4390-8246-66DED9B6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19350"/>
            <a:ext cx="47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A7FF"/>
          </a:solidFill>
          <a:ln xmlns:a="http://schemas.openxmlformats.org/drawingml/2006/main" w="0">
            <a:solidFill>
              <a:srgbClr val="72A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B8229E-AB10-4FF2-A9B9-E31FD891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09850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3-fold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2889B0-EDB7-4C91-AB5E-028AF50A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67050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cross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7CFC0F-1F63-4EBA-843C-7E63A0C5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9350"/>
            <a:ext cx="2000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D"/>
          </a:solidFill>
          <a:ln xmlns:a="http://schemas.openxmlformats.org/drawingml/2006/main" w="9525">
            <a:solidFill>
              <a:srgbClr val="2840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C8F42E-A901-4429-844F-494445BB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9350"/>
            <a:ext cx="47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solidFill>
              <a:srgbClr val="F4C95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CA039E-8F2A-4295-B2DF-769634DC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09850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0.8476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3F03C3-C516-49EC-BAC3-06675326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67050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best CV ROC-AUC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0B998A-13E8-4DB4-B253-F45D8AE6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19350"/>
            <a:ext cx="2476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D"/>
          </a:solidFill>
          <a:ln xmlns:a="http://schemas.openxmlformats.org/drawingml/2006/main" w="9525">
            <a:solidFill>
              <a:srgbClr val="28405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3CF75D-ECDC-4D5B-910A-1C894F82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19350"/>
            <a:ext cx="47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3A6"/>
          </a:solidFill>
          <a:ln xmlns:a="http://schemas.openxmlformats.org/drawingml/2006/main" w="0">
            <a:solidFill>
              <a:srgbClr val="43D3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8E6A1A-AF39-4C38-BECA-CCB2593F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0985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0.8411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A37A61-8A3C-4F3A-B672-8FD66458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6705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best tuned test ROC-AUC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1552E7-0EB5-4DE6-8344-97E49341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98869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C"/>
          </a:solidFill>
          <a:ln xmlns:a="http://schemas.openxmlformats.org/drawingml/2006/main" w="9525">
            <a:solidFill>
              <a:srgbClr val="28405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95A783-C413-4516-A18E-3D0E46B8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9582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Best randomized-search model run with metrics and artifacts.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2a89be541642b0"/>
          <a:stretch xmlns:a="http://schemas.openxmlformats.org/drawingml/2006/main"/>
        </p:blipFill>
        <p:spPr>
          <a:xfrm xmlns:a="http://schemas.openxmlformats.org/drawingml/2006/main">
            <a:off x="4669155" y="4152900"/>
            <a:ext cx="1920240" cy="133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028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D06AD5-EA66-4BDF-9B68-BD7BCEC6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86FFD-AE72-4CEE-A6BD-1125DB45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0"/>
            <a:ext cx="2876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C"/>
          </a:solidFill>
          <a:ln xmlns:a="http://schemas.openxmlformats.org/drawingml/2006/main" w="0">
            <a:solidFill>
              <a:srgbClr val="0D1B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DC5F9B-B89A-4084-94E6-50E428ED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57"/>
          </a:solidFill>
          <a:ln xmlns:a="http://schemas.openxmlformats.org/drawingml/2006/main" w="0">
            <a:solidFill>
              <a:srgbClr val="28405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73AD21-19CB-4F16-94D5-71C280CE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AIN-3009 MLOps Term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042D18-9B32-4133-8458-BDF34E82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D3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D3A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1D594E-5D99-4994-B39B-2CDF24CE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D3A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D3A6"/>
                </a:solidFill>
                <a:latin typeface="Aptos"/>
                <a:ea typeface="Aptos"/>
                <a:cs typeface="Aptos"/>
              </a:rPr>
              <a:t>MODEL REGISTRY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09AD2-221A-4DF1-986D-2579E2CC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66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Production model is versioned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23546-318E-4229-AD5E-CE960BA0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Registered model: ChurnPredictionModel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F2A641-1050-4F23-B8F8-1AB03A2F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4572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- Version 1 registered in MLflow Model Registry.</a:t>
            </a:r>
          </a:p>
          <a:p xmlns:a="http://schemas.openxmlformats.org/drawingml/2006/main">
            <a:pPr algn="l">
              <a:defRPr sz="15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- Production and staging aliases are assigned.</a:t>
            </a:r>
          </a:p>
          <a:p xmlns:a="http://schemas.openxmlformats.org/drawingml/2006/main">
            <a:pPr algn="l">
              <a:defRPr sz="15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- Registry creates a clear handoff from experimentation to deployment.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35035D-3C07-4CD0-85D5-F3756489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428750"/>
            <a:ext cx="5086350" cy="424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C"/>
          </a:solidFill>
          <a:ln xmlns:a="http://schemas.openxmlformats.org/drawingml/2006/main" w="9525">
            <a:solidFill>
              <a:srgbClr val="2840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0A668-5AEE-4A0C-9BCF-D7511642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53050"/>
            <a:ext cx="478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MLflow Model Registry page with production/staging aliases.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31575638a74e70"/>
          <a:stretch xmlns:a="http://schemas.openxmlformats.org/drawingml/2006/main"/>
        </p:blipFill>
        <p:spPr>
          <a:xfrm xmlns:a="http://schemas.openxmlformats.org/drawingml/2006/main">
            <a:off x="5905500" y="1768740"/>
            <a:ext cx="4781550" cy="332052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969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C9533F-E1D7-433D-986D-252624FC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639CC-8D7D-4C0D-A3CC-48004B79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0"/>
            <a:ext cx="2876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C"/>
          </a:solidFill>
          <a:ln xmlns:a="http://schemas.openxmlformats.org/drawingml/2006/main" w="0">
            <a:solidFill>
              <a:srgbClr val="0D1B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56325-345E-4136-9DCB-27B08334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57"/>
          </a:solidFill>
          <a:ln xmlns:a="http://schemas.openxmlformats.org/drawingml/2006/main" w="0">
            <a:solidFill>
              <a:srgbClr val="28405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ACDC7-7DB2-4EAE-A181-6C5A8516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AIN-3009 MLOps Term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A70A23-B4D1-4FF7-9E2F-DA2331EE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D3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D3A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C9A9DB-505E-4B23-B3D6-50C402DE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D3A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D3A6"/>
                </a:solidFill>
                <a:latin typeface="Aptos"/>
                <a:ea typeface="Aptos"/>
                <a:cs typeface="Aptos"/>
              </a:rPr>
              <a:t>DEPLOYMENT AND MONITORING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73322-1E45-40C2-BDE9-A7515E3A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66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Serving and monitoring complete the loop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F6226B-39DA-4E49-9013-CB598C3C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76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D"/>
          </a:solidFill>
          <a:ln xmlns:a="http://schemas.openxmlformats.org/drawingml/2006/main" w="9525">
            <a:solidFill>
              <a:srgbClr val="28405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C3832D-4F04-465C-B2F1-54E29FF2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098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Serving command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944695-E651-4A84-93D2-7BBD0FCE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28950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C95D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4C95D"/>
                </a:solidFill>
                <a:latin typeface="Aptos Mono"/>
                <a:ea typeface="Aptos Mono"/>
                <a:cs typeface="Aptos Mono"/>
              </a:rPr>
              <a:t>mlflow models serve -m "models:/ChurnPredictionModel/Production" -p 5001 --no-conda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E9D5F8-B725-4160-9AB0-457A09D2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76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C"/>
          </a:solidFill>
          <a:ln xmlns:a="http://schemas.openxmlformats.org/drawingml/2006/main" w="9525">
            <a:solidFill>
              <a:srgbClr val="2840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FCFCD9-98EE-462A-9A87-8271F2C1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Prediction response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62683B-D31A-44D9-B366-79B637DB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005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D3A6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43D3A6"/>
                </a:solidFill>
                <a:latin typeface="Aptos Mono"/>
                <a:ea typeface="Aptos Mono"/>
                <a:cs typeface="Aptos Mono"/>
              </a:rPr>
              <a:t>{"predictions": [1]}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E39EDD-425D-4489-BE9C-1F5894FD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863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Sample customer predicted as churn risk.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EBDFCA-072C-412F-A29E-D1FCDC3F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43150"/>
            <a:ext cx="49530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C"/>
          </a:solidFill>
          <a:ln xmlns:a="http://schemas.openxmlformats.org/drawingml/2006/main" w="9525">
            <a:solidFill>
              <a:srgbClr val="2840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A4CA2B-B526-4732-9077-1341AD77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43450"/>
            <a:ext cx="464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Monitoring run: four simulated production-like batches logged to MLflow.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d59eebdb3e413c"/>
          <a:stretch xmlns:a="http://schemas.openxmlformats.org/drawingml/2006/main"/>
        </p:blipFill>
        <p:spPr>
          <a:xfrm xmlns:a="http://schemas.openxmlformats.org/drawingml/2006/main">
            <a:off x="6856476" y="2495550"/>
            <a:ext cx="3127248" cy="2171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2303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43A4E3-2D67-41FE-85BF-6A9BD14D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37331-04E1-4F57-A9E8-3F3C68DA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0"/>
            <a:ext cx="2876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C"/>
          </a:solidFill>
          <a:ln xmlns:a="http://schemas.openxmlformats.org/drawingml/2006/main" w="0">
            <a:solidFill>
              <a:srgbClr val="0D1B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6DB5A-C34E-4D74-AF52-EDBB2C6D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57"/>
          </a:solidFill>
          <a:ln xmlns:a="http://schemas.openxmlformats.org/drawingml/2006/main" w="0">
            <a:solidFill>
              <a:srgbClr val="28405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FC4BA-9CFA-405D-85D2-A95E7689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AIN-3009 MLOps Term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5F534A-13F1-49B7-A38F-B6B33C0A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D3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D3A6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5119FF-972B-47FD-92E3-C0BA61F5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D3A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D3A6"/>
                </a:solidFill>
                <a:latin typeface="Aptos"/>
                <a:ea typeface="Aptos"/>
                <a:cs typeface="Aptos"/>
              </a:rPr>
              <a:t>CONCLUSION AND DEMO CHECKLIST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532E6-87C3-4621-96EB-7918D3C3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66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MLflow turns a model into a managed lifecycle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8B705-A909-494D-86DF-34410ABE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5905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- Experiment tracking makes model comparison auditable.</a:t>
            </a:r>
          </a:p>
          <a:p xmlns:a="http://schemas.openxmlformats.org/drawingml/2006/main">
            <a:pPr algn="l">
              <a:defRPr sz="15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- RandomizedSearchCV makes tuning more defensible.</a:t>
            </a:r>
          </a:p>
          <a:p xmlns:a="http://schemas.openxmlformats.org/drawingml/2006/main">
            <a:pPr algn="l">
              <a:defRPr sz="15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- Model Registry provides a production handoff.</a:t>
            </a:r>
          </a:p>
          <a:p xmlns:a="http://schemas.openxmlformats.org/drawingml/2006/main">
            <a:pPr algn="l">
              <a:defRPr sz="15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- Serving demonstrates real-time inference.</a:t>
            </a:r>
          </a:p>
          <a:p xmlns:a="http://schemas.openxmlformats.org/drawingml/2006/main">
            <a:pPr algn="l">
              <a:defRPr sz="15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- Monitoring shows how performance can be tracked over 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CEC128-21CB-4877-AE0B-688C49E9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81150"/>
            <a:ext cx="33337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D"/>
          </a:solidFill>
          <a:ln xmlns:a="http://schemas.openxmlformats.org/drawingml/2006/main" w="9525">
            <a:solidFill>
              <a:srgbClr val="2840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490591-183E-47ED-B7BF-1C398F78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859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Live demo order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E06E91-E84A-42A3-B18B-3117BF49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00300"/>
            <a:ext cx="2476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- Open MLflow experiment</a:t>
            </a:r>
          </a:p>
          <a:p xmlns:a="http://schemas.openxmlformats.org/drawingml/2006/main"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- Show best run metrics</a:t>
            </a:r>
          </a:p>
          <a:p xmlns:a="http://schemas.openxmlformats.org/drawingml/2006/main"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- Open registry production model</a:t>
            </a:r>
          </a:p>
          <a:p xmlns:a="http://schemas.openxmlformats.org/drawingml/2006/main"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- Show prediction response</a:t>
            </a:r>
          </a:p>
          <a:p xmlns:a="http://schemas.openxmlformats.org/drawingml/2006/main"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- Show monitoring metrics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686747-72F4-40F6-AB1F-1B245954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196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D3A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43D3A6"/>
                </a:solidFill>
                <a:latin typeface="Aptos Mono"/>
                <a:ea typeface="Aptos Mono"/>
                <a:cs typeface="Aptos Mono"/>
              </a:rPr>
              <a:t>Repository:</a:t>
            </a:r>
          </a:p>
          <a:p xmlns:a="http://schemas.openxmlformats.org/drawingml/2006/main">
            <a:pPr algn="l">
              <a:defRPr sz="975" b="0">
                <a:solidFill>
                  <a:srgbClr val="43D3A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43D3A6"/>
                </a:solidFill>
                <a:latin typeface="Aptos Mono"/>
                <a:ea typeface="Aptos Mono"/>
                <a:cs typeface="Aptos Mono"/>
              </a:rPr>
              <a:t>github.com/Ayhan-Gurbangeldiyev/AIN-3009-MLflow-Customer-Churn</a:t>
            </a:r>
          </a:p>
        </p:txBody>
      </p:sp>
    </p:spTree>
    <p:extLst>
      <p:ext uri="{BB962C8B-B14F-4D97-AF65-F5344CB8AC3E}">
        <p14:creationId xmlns:p14="http://schemas.microsoft.com/office/powerpoint/2010/main" val="756613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2026-05-09T18:26:32.7610000Z</dcterms:created>
  <dcterms:modified xsi:type="dcterms:W3CDTF">2026-05-09T18:26:32.7610000Z</dcterms:modified>
</coreProperties>
</file>